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7E07"/>
    <a:srgbClr val="A6BA10"/>
    <a:srgbClr val="FCF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4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7D742-8C28-414A-885A-96459CB02E1C}" type="datetimeFigureOut">
              <a:rPr kumimoji="1" lang="ja-JP" altLang="en-US" smtClean="0"/>
              <a:t>2026/10/26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A1905-7678-4895-8A63-45C8F70E3D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5426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445D0D99-5CA1-F831-A0E1-4783460E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名前　○○</a:t>
            </a:r>
            <a:r>
              <a:rPr kumimoji="1" lang="en-US" altLang="ja-JP" dirty="0"/>
              <a:t>/</a:t>
            </a:r>
            <a:r>
              <a:rPr kumimoji="1" lang="ja-JP" altLang="en-US" dirty="0"/>
              <a:t>○○</a:t>
            </a:r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AD20F10C-356C-D088-EA62-2064DB3A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BD71-7BA8-429B-80B6-D1D1038A38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3317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テスト詳細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BD71-7BA8-429B-80B6-D1D1038A38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038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49287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7150" y="6492875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6BD71-7BA8-429B-80B6-D1D1038A389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E05D806-84EB-D875-4BE2-797B7FBEACF3}"/>
              </a:ext>
            </a:extLst>
          </p:cNvPr>
          <p:cNvSpPr/>
          <p:nvPr userDrawn="1"/>
        </p:nvSpPr>
        <p:spPr>
          <a:xfrm>
            <a:off x="92636" y="328296"/>
            <a:ext cx="9720729" cy="1080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5BEEF529-56CE-CE09-2438-4D4ACB9E25E8}"/>
              </a:ext>
            </a:extLst>
          </p:cNvPr>
          <p:cNvSpPr txBox="1"/>
          <p:nvPr userDrawn="1"/>
        </p:nvSpPr>
        <p:spPr>
          <a:xfrm>
            <a:off x="71719" y="64692"/>
            <a:ext cx="282687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 dirty="0">
                <a:solidFill>
                  <a:srgbClr val="1F2937"/>
                </a:solidFill>
                <a:latin typeface="Noto Sans JP"/>
              </a:rPr>
              <a:t>京都府立京都高等技術専門校</a:t>
            </a:r>
          </a:p>
        </p:txBody>
      </p:sp>
    </p:spTree>
    <p:extLst>
      <p:ext uri="{BB962C8B-B14F-4D97-AF65-F5344CB8AC3E}">
        <p14:creationId xmlns:p14="http://schemas.microsoft.com/office/powerpoint/2010/main" val="2661641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81FBC5-1265-6948-2718-2DDE20074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Ver.2</a:t>
            </a:r>
            <a:r>
              <a:rPr kumimoji="1" lang="ja-JP" altLang="en-US" dirty="0"/>
              <a:t>テスト報告書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8428F8-8DC1-0E59-9C8E-5E2ABAD00F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食品・</a:t>
            </a:r>
            <a:r>
              <a:rPr lang="en-US" altLang="ja-JP" dirty="0"/>
              <a:t>AV</a:t>
            </a:r>
            <a:r>
              <a:rPr lang="ja-JP" altLang="en-US" dirty="0"/>
              <a:t>機器・</a:t>
            </a:r>
            <a:r>
              <a:rPr lang="en-US" altLang="ja-JP" dirty="0"/>
              <a:t>PC</a:t>
            </a:r>
            <a:r>
              <a:rPr lang="ja-JP" altLang="en-US" dirty="0"/>
              <a:t>カテゴリ追加対応</a:t>
            </a:r>
            <a:endParaRPr lang="en-US" altLang="ja-JP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B25CE2-976B-5EA0-4012-F7722A248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名前　木下</a:t>
            </a:r>
            <a:r>
              <a:rPr kumimoji="1" lang="en-US" altLang="ja-JP" dirty="0"/>
              <a:t>/</a:t>
            </a:r>
            <a:r>
              <a:rPr kumimoji="1" lang="ja-JP" altLang="en-US" dirty="0"/>
              <a:t>横田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219D3F-1F35-F0EF-49C0-5510F474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BD71-7BA8-429B-80B6-D1D1038A389E}" type="slidenum">
              <a:rPr kumimoji="1" lang="ja-JP" altLang="en-US" smtClean="0"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959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72157F5-24AC-63F8-7D81-E0EFA144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BD71-7BA8-429B-80B6-D1D1038A389E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7B73B191-E1E8-5309-0D89-DCD9250A073E}"/>
              </a:ext>
            </a:extLst>
          </p:cNvPr>
          <p:cNvSpPr txBox="1"/>
          <p:nvPr/>
        </p:nvSpPr>
        <p:spPr>
          <a:xfrm>
            <a:off x="76196" y="466895"/>
            <a:ext cx="738691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ja-JP" sz="2700" b="1" i="0" u="none" dirty="0">
                <a:solidFill>
                  <a:srgbClr val="1E293B"/>
                </a:solidFill>
                <a:latin typeface="Noto Sans JP"/>
              </a:rPr>
              <a:t>Ver.2</a:t>
            </a:r>
            <a:r>
              <a:rPr sz="2700" b="1" i="0" u="none" dirty="0">
                <a:solidFill>
                  <a:srgbClr val="1E293B"/>
                </a:solidFill>
                <a:latin typeface="Noto Sans JP"/>
              </a:rPr>
              <a:t>テスト </a:t>
            </a:r>
            <a:r>
              <a:rPr lang="ja-JP" altLang="en-US" sz="2700" b="1" dirty="0">
                <a:solidFill>
                  <a:srgbClr val="1E293B"/>
                </a:solidFill>
                <a:latin typeface="Noto Sans JP"/>
              </a:rPr>
              <a:t>項目一覧</a:t>
            </a:r>
            <a:endParaRPr sz="2700" b="1" i="0" u="none" dirty="0">
              <a:solidFill>
                <a:srgbClr val="1E293B"/>
              </a:solidFill>
              <a:latin typeface="Noto Sans JP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774B9076-6498-D36F-02AC-64B0A7CEF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2" y="4223665"/>
            <a:ext cx="4586040" cy="1831454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4BFC58E4-AC86-F536-33E0-183682485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626" y="4413077"/>
            <a:ext cx="5114174" cy="1431308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CAD78F35-FFEC-D61C-64CF-41BDFE963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629" y="1303934"/>
            <a:ext cx="5114174" cy="1431308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477721FF-E264-EB8F-69EB-23E6C72A88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2" y="4062648"/>
            <a:ext cx="4586040" cy="161017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6C6B342D-6797-376A-733D-C22DF3DD7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627" y="1144122"/>
            <a:ext cx="5114173" cy="161017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BB949C98-8C16-5639-F1FB-D9DDAF17D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626" y="4244648"/>
            <a:ext cx="5114173" cy="161017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0E1289D5-23E1-D7DB-3139-59609160B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627" y="2895054"/>
            <a:ext cx="5114173" cy="16101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2A60D6D-FF29-D118-F6F9-9CF41FFBA7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5" y="1142405"/>
            <a:ext cx="4587355" cy="272574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18B2757-AF72-58F9-4E11-A5CBD94766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5626" y="3049441"/>
            <a:ext cx="5114173" cy="1023935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71E01CD-F0BC-1C56-E437-F6E55FF780F3}"/>
              </a:ext>
            </a:extLst>
          </p:cNvPr>
          <p:cNvSpPr txBox="1"/>
          <p:nvPr/>
        </p:nvSpPr>
        <p:spPr>
          <a:xfrm>
            <a:off x="8566485" y="6240424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計</a:t>
            </a:r>
            <a:r>
              <a:rPr kumimoji="1" lang="en-US" altLang="ja-JP" dirty="0"/>
              <a:t>43</a:t>
            </a:r>
            <a:r>
              <a:rPr kumimoji="1" lang="ja-JP" altLang="en-US" dirty="0"/>
              <a:t>項目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AC42E7A-3B7B-645F-1C32-42EB2243E498}"/>
              </a:ext>
            </a:extLst>
          </p:cNvPr>
          <p:cNvSpPr txBox="1"/>
          <p:nvPr/>
        </p:nvSpPr>
        <p:spPr>
          <a:xfrm>
            <a:off x="3527143" y="640245"/>
            <a:ext cx="559800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Ver.2</a:t>
            </a:r>
            <a:r>
              <a:rPr lang="ja-JP" altLang="en-US" sz="1050" dirty="0"/>
              <a:t>で追加・変更した機能について、テスト仕様書に基づき</a:t>
            </a:r>
            <a:r>
              <a:rPr lang="en-US" altLang="ja-JP" sz="1050" dirty="0"/>
              <a:t>43</a:t>
            </a:r>
            <a:r>
              <a:rPr lang="ja-JP" altLang="en-US" sz="1050" dirty="0"/>
              <a:t>項目のテストを実施した。</a:t>
            </a:r>
            <a:endParaRPr lang="en-US" altLang="ja-JP" sz="1050" dirty="0"/>
          </a:p>
          <a:p>
            <a:r>
              <a:rPr lang="ja-JP" altLang="en-US" sz="1050" dirty="0"/>
              <a:t>各項目について、期待される動作と実際の動作を確認し、結果を記録した。</a:t>
            </a:r>
          </a:p>
        </p:txBody>
      </p:sp>
    </p:spTree>
    <p:extLst>
      <p:ext uri="{BB962C8B-B14F-4D97-AF65-F5344CB8AC3E}">
        <p14:creationId xmlns:p14="http://schemas.microsoft.com/office/powerpoint/2010/main" val="2898400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1">
            <a:extLst>
              <a:ext uri="{FF2B5EF4-FFF2-40B4-BE49-F238E27FC236}">
                <a16:creationId xmlns:a16="http://schemas.microsoft.com/office/drawing/2014/main" id="{A2CA06EE-77C2-368E-3865-345CBC631DC3}"/>
              </a:ext>
            </a:extLst>
          </p:cNvPr>
          <p:cNvSpPr/>
          <p:nvPr/>
        </p:nvSpPr>
        <p:spPr>
          <a:xfrm>
            <a:off x="204315" y="1157120"/>
            <a:ext cx="5303041" cy="5579634"/>
          </a:xfrm>
          <a:prstGeom prst="roundRect">
            <a:avLst>
              <a:gd name="adj" fmla="val 4123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4" name="Rounded Rectangle 3">
            <a:extLst>
              <a:ext uri="{FF2B5EF4-FFF2-40B4-BE49-F238E27FC236}">
                <a16:creationId xmlns:a16="http://schemas.microsoft.com/office/drawing/2014/main" id="{5E4FBCC6-C193-A38E-3141-99653493B7EE}"/>
              </a:ext>
            </a:extLst>
          </p:cNvPr>
          <p:cNvSpPr/>
          <p:nvPr/>
        </p:nvSpPr>
        <p:spPr>
          <a:xfrm>
            <a:off x="5616348" y="401851"/>
            <a:ext cx="4140240" cy="6341849"/>
          </a:xfrm>
          <a:prstGeom prst="roundRect">
            <a:avLst>
              <a:gd name="adj" fmla="val 3902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D1580B-2F99-2D1F-EBF3-48B6C8A1E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86468" y="6561137"/>
            <a:ext cx="2228850" cy="365125"/>
          </a:xfrm>
        </p:spPr>
        <p:txBody>
          <a:bodyPr/>
          <a:lstStyle/>
          <a:p>
            <a:fld id="{FD46BD71-7BA8-429B-80B6-D1D1038A389E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  <p:sp>
        <p:nvSpPr>
          <p:cNvPr id="44" name="TextBox 6">
            <a:extLst>
              <a:ext uri="{FF2B5EF4-FFF2-40B4-BE49-F238E27FC236}">
                <a16:creationId xmlns:a16="http://schemas.microsoft.com/office/drawing/2014/main" id="{6E398CEC-C4BD-3D5E-665E-0D929EA5D053}"/>
              </a:ext>
            </a:extLst>
          </p:cNvPr>
          <p:cNvSpPr txBox="1"/>
          <p:nvPr/>
        </p:nvSpPr>
        <p:spPr>
          <a:xfrm>
            <a:off x="101601" y="401851"/>
            <a:ext cx="738691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ja-JP" sz="2700" b="1" i="0" u="none" dirty="0">
                <a:solidFill>
                  <a:srgbClr val="1E293B"/>
                </a:solidFill>
                <a:latin typeface="Noto Sans JP"/>
              </a:rPr>
              <a:t>Ver.2</a:t>
            </a:r>
            <a:r>
              <a:rPr sz="2700" b="1" i="0" u="none" dirty="0">
                <a:solidFill>
                  <a:srgbClr val="1E293B"/>
                </a:solidFill>
                <a:latin typeface="Noto Sans JP"/>
              </a:rPr>
              <a:t>テスト 詳細報告</a:t>
            </a:r>
          </a:p>
        </p:txBody>
      </p:sp>
      <p:sp>
        <p:nvSpPr>
          <p:cNvPr id="57" name="TextBox 16">
            <a:extLst>
              <a:ext uri="{FF2B5EF4-FFF2-40B4-BE49-F238E27FC236}">
                <a16:creationId xmlns:a16="http://schemas.microsoft.com/office/drawing/2014/main" id="{3DE2E7BA-E445-52D3-AF12-C42169D33DB5}"/>
              </a:ext>
            </a:extLst>
          </p:cNvPr>
          <p:cNvSpPr txBox="1"/>
          <p:nvPr/>
        </p:nvSpPr>
        <p:spPr>
          <a:xfrm>
            <a:off x="5820759" y="503887"/>
            <a:ext cx="3935829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59669"/>
                </a:solidFill>
                <a:latin typeface="Noto Sans JP"/>
              </a:rPr>
              <a:t>見解・テスト結果</a:t>
            </a:r>
            <a:endParaRPr sz="1350" b="1" i="0" u="none" dirty="0">
              <a:solidFill>
                <a:srgbClr val="059669"/>
              </a:solidFill>
              <a:latin typeface="Noto Sans JP"/>
            </a:endParaRPr>
          </a:p>
        </p:txBody>
      </p:sp>
      <p:sp>
        <p:nvSpPr>
          <p:cNvPr id="60" name="TextBox 7">
            <a:extLst>
              <a:ext uri="{FF2B5EF4-FFF2-40B4-BE49-F238E27FC236}">
                <a16:creationId xmlns:a16="http://schemas.microsoft.com/office/drawing/2014/main" id="{AC557A58-EF4F-A1C4-B3D5-0A6A924F6982}"/>
              </a:ext>
            </a:extLst>
          </p:cNvPr>
          <p:cNvSpPr txBox="1"/>
          <p:nvPr/>
        </p:nvSpPr>
        <p:spPr>
          <a:xfrm>
            <a:off x="394676" y="1267481"/>
            <a:ext cx="432243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64748B"/>
                </a:solidFill>
                <a:latin typeface="Noto Sans JP"/>
              </a:rPr>
              <a:t>対象画面・遷移フロ</a:t>
            </a:r>
            <a:r>
              <a:rPr sz="1500" b="1" i="0" u="none" dirty="0">
                <a:solidFill>
                  <a:srgbClr val="64748B"/>
                </a:solidFill>
                <a:latin typeface="Noto Sans JP"/>
              </a:rPr>
              <a:t>ー</a:t>
            </a:r>
          </a:p>
        </p:txBody>
      </p:sp>
      <p:sp>
        <p:nvSpPr>
          <p:cNvPr id="61" name="TextBox 10">
            <a:extLst>
              <a:ext uri="{FF2B5EF4-FFF2-40B4-BE49-F238E27FC236}">
                <a16:creationId xmlns:a16="http://schemas.microsoft.com/office/drawing/2014/main" id="{5333DA31-E334-670D-FC1B-FD6E89E249C3}"/>
              </a:ext>
            </a:extLst>
          </p:cNvPr>
          <p:cNvSpPr txBox="1"/>
          <p:nvPr/>
        </p:nvSpPr>
        <p:spPr>
          <a:xfrm>
            <a:off x="3420839" y="1445598"/>
            <a:ext cx="1946796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F172A"/>
                </a:solidFill>
                <a:latin typeface="Noto Sans JP"/>
              </a:rPr>
              <a:t>テスト内容</a:t>
            </a:r>
            <a:r>
              <a:rPr lang="ja-JP" altLang="en-US" sz="1200" b="1" i="0" u="none" dirty="0">
                <a:solidFill>
                  <a:srgbClr val="0F172A"/>
                </a:solidFill>
                <a:latin typeface="Noto Sans JP"/>
              </a:rPr>
              <a:t>：</a:t>
            </a:r>
            <a:endParaRPr lang="en-US" sz="1200" b="1" dirty="0">
              <a:solidFill>
                <a:srgbClr val="0F172A"/>
              </a:solidFill>
              <a:latin typeface="Noto Sans JP"/>
            </a:endParaRPr>
          </a:p>
          <a:p>
            <a:r>
              <a:rPr lang="ja-JP" altLang="en-US" sz="1050" dirty="0"/>
              <a:t>ログイン後、カテゴリー選択画面から</a:t>
            </a:r>
            <a:r>
              <a:rPr lang="en-US" altLang="ja-JP" sz="1050" dirty="0"/>
              <a:t>PC</a:t>
            </a:r>
            <a:r>
              <a:rPr lang="ja-JP" altLang="en-US" sz="1050" dirty="0"/>
              <a:t>カテゴリを選択し、対象画面へ正常に遷移できることを確認する。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496AB46E-93D4-9A31-595F-66AE985D32FC}"/>
              </a:ext>
            </a:extLst>
          </p:cNvPr>
          <p:cNvSpPr txBox="1"/>
          <p:nvPr/>
        </p:nvSpPr>
        <p:spPr>
          <a:xfrm>
            <a:off x="3431217" y="2675690"/>
            <a:ext cx="310064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F172A"/>
                </a:solidFill>
                <a:latin typeface="Noto Sans JP"/>
              </a:rPr>
              <a:t>期待される動作</a:t>
            </a:r>
            <a:r>
              <a:rPr lang="ja-JP" altLang="en-US" sz="1200" b="1" dirty="0">
                <a:solidFill>
                  <a:srgbClr val="0F172A"/>
                </a:solidFill>
                <a:latin typeface="Noto Sans JP"/>
              </a:rPr>
              <a:t>：</a:t>
            </a:r>
            <a:endParaRPr sz="1200" b="1" i="0" u="none" dirty="0">
              <a:solidFill>
                <a:srgbClr val="0F172A"/>
              </a:solidFill>
              <a:latin typeface="Noto Sans JP"/>
            </a:endParaRPr>
          </a:p>
        </p:txBody>
      </p:sp>
      <p:sp>
        <p:nvSpPr>
          <p:cNvPr id="55" name="Rounded Rectangle 4">
            <a:extLst>
              <a:ext uri="{FF2B5EF4-FFF2-40B4-BE49-F238E27FC236}">
                <a16:creationId xmlns:a16="http://schemas.microsoft.com/office/drawing/2014/main" id="{D56F55F0-46C3-EFDD-F24E-1237DC100F17}"/>
              </a:ext>
            </a:extLst>
          </p:cNvPr>
          <p:cNvSpPr/>
          <p:nvPr/>
        </p:nvSpPr>
        <p:spPr>
          <a:xfrm>
            <a:off x="8490914" y="440409"/>
            <a:ext cx="1157138" cy="27622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17">
            <a:extLst>
              <a:ext uri="{FF2B5EF4-FFF2-40B4-BE49-F238E27FC236}">
                <a16:creationId xmlns:a16="http://schemas.microsoft.com/office/drawing/2014/main" id="{EB9D61B6-E0D5-1D99-CA26-0C32B411E79F}"/>
              </a:ext>
            </a:extLst>
          </p:cNvPr>
          <p:cNvSpPr txBox="1"/>
          <p:nvPr/>
        </p:nvSpPr>
        <p:spPr>
          <a:xfrm>
            <a:off x="8700464" y="482640"/>
            <a:ext cx="94758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8FAFC"/>
                </a:solidFill>
                <a:latin typeface="Noto Sans JP"/>
              </a:rPr>
              <a:t>PASS (</a:t>
            </a:r>
            <a:r>
              <a:rPr sz="1200" b="1" i="0" u="none" dirty="0" err="1">
                <a:solidFill>
                  <a:srgbClr val="F8FAFC"/>
                </a:solidFill>
                <a:latin typeface="Noto Sans JP"/>
              </a:rPr>
              <a:t>合格</a:t>
            </a:r>
            <a:r>
              <a:rPr sz="1200" b="1" i="0" u="none" dirty="0">
                <a:solidFill>
                  <a:srgbClr val="F8FAFC"/>
                </a:solidFill>
                <a:latin typeface="Noto Sans JP"/>
              </a:rPr>
              <a:t>)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7C75DA5D-99EC-851F-3545-5A99E2A64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161" y="757921"/>
            <a:ext cx="3975275" cy="5853692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38986780-C36D-7C11-2B2D-88353E418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63" y="1591887"/>
            <a:ext cx="3109064" cy="1457053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60626290-B6BA-B6C8-843D-395A5D988B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19" y="3620761"/>
            <a:ext cx="5155716" cy="254501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648FA3D-F481-420A-64A2-3CD5D01E1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016" y="2707747"/>
            <a:ext cx="1339015" cy="2185519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1A29B05-9445-60E4-2FE4-C0BA692A160B}"/>
              </a:ext>
            </a:extLst>
          </p:cNvPr>
          <p:cNvSpPr txBox="1"/>
          <p:nvPr/>
        </p:nvSpPr>
        <p:spPr>
          <a:xfrm>
            <a:off x="3351188" y="2861597"/>
            <a:ext cx="2265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カテゴリー選択画面に食品・</a:t>
            </a:r>
            <a:r>
              <a:rPr lang="en-US" altLang="ja-JP" sz="1050" dirty="0"/>
              <a:t>AV</a:t>
            </a:r>
            <a:r>
              <a:rPr lang="ja-JP" altLang="en-US" sz="1050" dirty="0"/>
              <a:t>機器・</a:t>
            </a:r>
            <a:r>
              <a:rPr lang="en-US" altLang="ja-JP" sz="1050" dirty="0"/>
              <a:t>PC</a:t>
            </a:r>
            <a:r>
              <a:rPr lang="ja-JP" altLang="en-US" sz="1050" dirty="0"/>
              <a:t>の各カテゴリが表示され、</a:t>
            </a:r>
            <a:r>
              <a:rPr lang="en-US" altLang="ja-JP" sz="1050" dirty="0"/>
              <a:t>PC</a:t>
            </a:r>
            <a:r>
              <a:rPr lang="ja-JP" altLang="en-US" sz="1050" dirty="0"/>
              <a:t>カテゴリを選択すると、対応する商品一覧画面が表示される。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628B8AC-3A59-934B-F5BF-60ABA3F5821D}"/>
              </a:ext>
            </a:extLst>
          </p:cNvPr>
          <p:cNvCxnSpPr/>
          <p:nvPr/>
        </p:nvCxnSpPr>
        <p:spPr>
          <a:xfrm flipH="1">
            <a:off x="281463" y="2063416"/>
            <a:ext cx="1348816" cy="64433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16FBDB7C-6809-32F3-8FE7-EFCB1F8EA56D}"/>
              </a:ext>
            </a:extLst>
          </p:cNvPr>
          <p:cNvCxnSpPr>
            <a:cxnSpLocks/>
          </p:cNvCxnSpPr>
          <p:nvPr/>
        </p:nvCxnSpPr>
        <p:spPr>
          <a:xfrm flipH="1">
            <a:off x="1509963" y="2749246"/>
            <a:ext cx="529390" cy="2045338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07BA72A-5C05-AB26-D5E5-5A7B6D848247}"/>
              </a:ext>
            </a:extLst>
          </p:cNvPr>
          <p:cNvCxnSpPr>
            <a:cxnSpLocks/>
          </p:cNvCxnSpPr>
          <p:nvPr/>
        </p:nvCxnSpPr>
        <p:spPr>
          <a:xfrm flipH="1">
            <a:off x="1509963" y="2063416"/>
            <a:ext cx="515039" cy="68583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楕円 25">
            <a:extLst>
              <a:ext uri="{FF2B5EF4-FFF2-40B4-BE49-F238E27FC236}">
                <a16:creationId xmlns:a16="http://schemas.microsoft.com/office/drawing/2014/main" id="{A9C3433D-DBC7-BB33-D596-11FF5DAA4FF0}"/>
              </a:ext>
            </a:extLst>
          </p:cNvPr>
          <p:cNvSpPr/>
          <p:nvPr/>
        </p:nvSpPr>
        <p:spPr>
          <a:xfrm>
            <a:off x="226564" y="4632158"/>
            <a:ext cx="319059" cy="2611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A523BF3-1CB3-AF9A-06EC-FFB7FD6628BC}"/>
              </a:ext>
            </a:extLst>
          </p:cNvPr>
          <p:cNvSpPr/>
          <p:nvPr/>
        </p:nvSpPr>
        <p:spPr>
          <a:xfrm>
            <a:off x="567720" y="4891516"/>
            <a:ext cx="319059" cy="2611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0408E57-E55F-859D-A79E-0DE9B244BA7B}"/>
              </a:ext>
            </a:extLst>
          </p:cNvPr>
          <p:cNvSpPr txBox="1"/>
          <p:nvPr/>
        </p:nvSpPr>
        <p:spPr>
          <a:xfrm>
            <a:off x="3351188" y="2246963"/>
            <a:ext cx="206709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対応テスト番号：</a:t>
            </a:r>
            <a:endParaRPr kumimoji="1" lang="en-US" altLang="ja-JP" sz="1050" dirty="0"/>
          </a:p>
          <a:p>
            <a:r>
              <a:rPr kumimoji="1" lang="en-US" altLang="ja-JP" sz="1050" dirty="0"/>
              <a:t>V2-D01/V2-D04/V-ST-003</a:t>
            </a:r>
            <a:endParaRPr kumimoji="1" lang="ja-JP" altLang="en-US" sz="105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A813800-CC5B-8DF3-8D80-DF89F6DA5856}"/>
              </a:ext>
            </a:extLst>
          </p:cNvPr>
          <p:cNvSpPr txBox="1"/>
          <p:nvPr/>
        </p:nvSpPr>
        <p:spPr>
          <a:xfrm>
            <a:off x="245857" y="6137057"/>
            <a:ext cx="5230770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テスト結果：</a:t>
            </a:r>
            <a:endParaRPr kumimoji="1" lang="en-US" altLang="ja-JP" sz="1200" b="1" dirty="0"/>
          </a:p>
          <a:p>
            <a:r>
              <a:rPr lang="en-US" altLang="ja-JP" sz="1050" dirty="0"/>
              <a:t>PC</a:t>
            </a:r>
            <a:r>
              <a:rPr lang="ja-JP" altLang="en-US" sz="1050" dirty="0"/>
              <a:t>カテゴリを選択し、商品一覧画面へ正常に遷移することを確認した。表示された商品情報についても、テスト対象の範囲で問題がないことを確認した。</a:t>
            </a:r>
          </a:p>
        </p:txBody>
      </p:sp>
    </p:spTree>
    <p:extLst>
      <p:ext uri="{BB962C8B-B14F-4D97-AF65-F5344CB8AC3E}">
        <p14:creationId xmlns:p14="http://schemas.microsoft.com/office/powerpoint/2010/main" val="272681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6975E9B-440A-DBC7-AE01-47D495B4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BD71-7BA8-429B-80B6-D1D1038A389E}" type="slidenum">
              <a:rPr kumimoji="1" lang="ja-JP" altLang="en-US" smtClean="0"/>
              <a:t>4</a:t>
            </a:fld>
            <a:endParaRPr kumimoji="1" lang="ja-JP" altLang="en-US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44E4836D-D7FB-27CA-D7C6-C4068FA25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293844"/>
              </p:ext>
            </p:extLst>
          </p:nvPr>
        </p:nvGraphicFramePr>
        <p:xfrm>
          <a:off x="228599" y="1282615"/>
          <a:ext cx="9448802" cy="2981325"/>
        </p:xfrm>
        <a:graphic>
          <a:graphicData uri="http://schemas.openxmlformats.org/drawingml/2006/table">
            <a:tbl>
              <a:tblPr/>
              <a:tblGrid>
                <a:gridCol w="1417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53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Noto Sans JP"/>
                        </a:rPr>
                        <a:t>ID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 err="1">
                          <a:solidFill>
                            <a:srgbClr val="475569"/>
                          </a:solidFill>
                          <a:latin typeface="Noto Sans JP"/>
                        </a:rPr>
                        <a:t>重要度</a:t>
                      </a:r>
                      <a:endParaRPr sz="1200" b="1" i="0" u="none" dirty="0">
                        <a:solidFill>
                          <a:srgbClr val="475569"/>
                        </a:solidFill>
                        <a:latin typeface="Noto Sans JP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 err="1">
                          <a:solidFill>
                            <a:srgbClr val="475569"/>
                          </a:solidFill>
                          <a:latin typeface="Noto Sans JP"/>
                        </a:rPr>
                        <a:t>事象・課題内容</a:t>
                      </a:r>
                      <a:endParaRPr sz="1200" b="1" i="0" u="none" dirty="0">
                        <a:solidFill>
                          <a:srgbClr val="475569"/>
                        </a:solidFill>
                        <a:latin typeface="Noto Sans JP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Noto Sans JP"/>
                        </a:rPr>
                        <a:t>ステータス / 方針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331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0" i="0" u="none" dirty="0">
                          <a:solidFill>
                            <a:srgbClr val="1E293B"/>
                          </a:solidFill>
                          <a:latin typeface="Noto Sans JP"/>
                        </a:rPr>
                        <a:t>該当なし</a:t>
                      </a:r>
                      <a:endParaRPr sz="1200" b="0" i="0" u="none" dirty="0">
                        <a:solidFill>
                          <a:srgbClr val="1E293B"/>
                        </a:solidFill>
                        <a:latin typeface="Noto Sans JP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54D0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1200" b="0" i="0" u="none" dirty="0">
                        <a:solidFill>
                          <a:srgbClr val="1E293B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1200" b="0" i="0" u="none" dirty="0">
                        <a:solidFill>
                          <a:srgbClr val="475569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5331">
                <a:tc>
                  <a:txBody>
                    <a:bodyPr/>
                    <a:lstStyle/>
                    <a:p>
                      <a:pPr algn="l"/>
                      <a:endParaRPr sz="1200" b="0" i="0" u="none" dirty="0">
                        <a:solidFill>
                          <a:srgbClr val="1E293B"/>
                        </a:solidFill>
                        <a:latin typeface="Noto Sans JP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54D0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 b="0" i="0" u="none" dirty="0">
                        <a:solidFill>
                          <a:srgbClr val="1E293B"/>
                        </a:solidFill>
                        <a:latin typeface="Noto Sans JP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 b="0" i="0" u="none" dirty="0">
                        <a:solidFill>
                          <a:srgbClr val="475569"/>
                        </a:solidFill>
                        <a:latin typeface="Noto Sans JP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5332">
                <a:tc>
                  <a:txBody>
                    <a:bodyPr/>
                    <a:lstStyle/>
                    <a:p>
                      <a:pPr algn="l"/>
                      <a:endParaRPr sz="1200" b="0" i="0" u="none" dirty="0">
                        <a:solidFill>
                          <a:srgbClr val="1E293B"/>
                        </a:solidFill>
                        <a:latin typeface="Noto Sans JP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369A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 b="0" i="0" u="none" dirty="0">
                        <a:solidFill>
                          <a:srgbClr val="1E293B"/>
                        </a:solidFill>
                        <a:latin typeface="Noto Sans JP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 b="0" i="0" u="none" dirty="0">
                        <a:solidFill>
                          <a:srgbClr val="475569"/>
                        </a:solidFill>
                        <a:latin typeface="Noto Sans JP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6">
            <a:extLst>
              <a:ext uri="{FF2B5EF4-FFF2-40B4-BE49-F238E27FC236}">
                <a16:creationId xmlns:a16="http://schemas.microsoft.com/office/drawing/2014/main" id="{89198434-2347-6023-28FE-990AC8E4CAF1}"/>
              </a:ext>
            </a:extLst>
          </p:cNvPr>
          <p:cNvSpPr txBox="1"/>
          <p:nvPr/>
        </p:nvSpPr>
        <p:spPr>
          <a:xfrm>
            <a:off x="101601" y="401851"/>
            <a:ext cx="738691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2700" b="1" i="0" u="none" dirty="0">
                <a:solidFill>
                  <a:srgbClr val="1E293B"/>
                </a:solidFill>
                <a:latin typeface="Noto Sans JP"/>
              </a:rPr>
              <a:t>残存課題・インシデント一覧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B2702C92-A2AF-72DE-00C6-7DA50911AE88}"/>
              </a:ext>
            </a:extLst>
          </p:cNvPr>
          <p:cNvSpPr/>
          <p:nvPr/>
        </p:nvSpPr>
        <p:spPr>
          <a:xfrm>
            <a:off x="228600" y="4535445"/>
            <a:ext cx="9448802" cy="1685925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3B4D115F-7C07-79C8-F46C-4E4E5B4367FF}"/>
              </a:ext>
            </a:extLst>
          </p:cNvPr>
          <p:cNvSpPr txBox="1"/>
          <p:nvPr/>
        </p:nvSpPr>
        <p:spPr>
          <a:xfrm>
            <a:off x="552449" y="4859295"/>
            <a:ext cx="9203155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475569"/>
                </a:solidFill>
                <a:latin typeface="Noto Sans JP"/>
              </a:rPr>
              <a:t>今後の対応方針</a:t>
            </a:r>
            <a:endParaRPr lang="en-US" sz="1500" b="1" i="0" u="none" dirty="0">
              <a:solidFill>
                <a:srgbClr val="475569"/>
              </a:solidFill>
              <a:latin typeface="Noto Sans JP"/>
            </a:endParaRPr>
          </a:p>
          <a:p>
            <a:r>
              <a:rPr lang="ja-JP" altLang="en-US" sz="1200" dirty="0"/>
              <a:t>本テストの対象</a:t>
            </a:r>
            <a:r>
              <a:rPr lang="en-US" altLang="ja-JP" sz="1200" dirty="0"/>
              <a:t>43</a:t>
            </a:r>
            <a:r>
              <a:rPr lang="ja-JP" altLang="en-US" sz="1200" dirty="0"/>
              <a:t>項目は、すべて合格と判定した。</a:t>
            </a:r>
          </a:p>
          <a:p>
            <a:pPr algn="l"/>
            <a:endParaRPr sz="1500" b="1" i="0" u="none" dirty="0">
              <a:solidFill>
                <a:srgbClr val="475569"/>
              </a:solidFill>
              <a:latin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2348499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o Sans JP祭">
      <a:majorFont>
        <a:latin typeface="Noto Sans JP"/>
        <a:ea typeface="Noto Sans JP"/>
        <a:cs typeface=""/>
      </a:majorFont>
      <a:minorFont>
        <a:latin typeface="Noto Sans JP"/>
        <a:ea typeface="Noto Sans J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517</TotalTime>
  <Words>229</Words>
  <Application>Microsoft Office PowerPoint</Application>
  <PresentationFormat>A4 210 x 297 mm</PresentationFormat>
  <Paragraphs>31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Noto Sans JP</vt:lpstr>
      <vt:lpstr>游ゴシック</vt:lpstr>
      <vt:lpstr>Arial</vt:lpstr>
      <vt:lpstr>Office テーマ</vt:lpstr>
      <vt:lpstr>Ver.2テスト報告書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Imai</dc:creator>
  <cp:lastModifiedBy>京都高等技術専門校</cp:lastModifiedBy>
  <cp:revision>18</cp:revision>
  <dcterms:created xsi:type="dcterms:W3CDTF">2026-10-22T05:15:09Z</dcterms:created>
  <dcterms:modified xsi:type="dcterms:W3CDTF">2026-10-26T04:12:11Z</dcterms:modified>
</cp:coreProperties>
</file>