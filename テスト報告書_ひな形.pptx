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"/>
  </p:notesMasterIdLst>
  <p:sldIdLst>
    <p:sldId id="256" r:id="rId2"/>
    <p:sldId id="258" r:id="rId3"/>
    <p:sldId id="257" r:id="rId4"/>
    <p:sldId id="259" r:id="rId5"/>
  </p:sldIdLst>
  <p:sldSz cx="9906000" cy="6858000" type="A4"/>
  <p:notesSz cx="9144000" cy="6858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17E07"/>
    <a:srgbClr val="A6BA10"/>
    <a:srgbClr val="FCFDE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14" autoAdjust="0"/>
    <p:restoredTop sz="94660"/>
  </p:normalViewPr>
  <p:slideViewPr>
    <p:cSldViewPr snapToGrid="0">
      <p:cViewPr varScale="1">
        <p:scale>
          <a:sx n="159" d="100"/>
          <a:sy n="159" d="100"/>
        </p:scale>
        <p:origin x="1446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5179484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2F7D742-8C28-414A-885A-96459CB02E1C}" type="datetimeFigureOut">
              <a:rPr kumimoji="1" lang="ja-JP" altLang="en-US" smtClean="0"/>
              <a:t>2026/10/22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2900363" y="857250"/>
            <a:ext cx="3343275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914400" y="3300412"/>
            <a:ext cx="7315200" cy="2700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5179484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60A1905-7678-4895-8A63-45C8F70E3D1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754263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12" name="フッター プレースホルダー 11">
            <a:extLst>
              <a:ext uri="{FF2B5EF4-FFF2-40B4-BE49-F238E27FC236}">
                <a16:creationId xmlns:a16="http://schemas.microsoft.com/office/drawing/2014/main" id="{445D0D99-5CA1-F831-A0E1-4783460EEB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ja-JP" altLang="en-US" dirty="0"/>
              <a:t>名前　○○</a:t>
            </a:r>
            <a:r>
              <a:rPr kumimoji="1" lang="en-US" altLang="ja-JP" dirty="0"/>
              <a:t>/</a:t>
            </a:r>
            <a:r>
              <a:rPr kumimoji="1" lang="ja-JP" altLang="en-US" dirty="0"/>
              <a:t>○○</a:t>
            </a:r>
          </a:p>
        </p:txBody>
      </p:sp>
      <p:sp>
        <p:nvSpPr>
          <p:cNvPr id="13" name="スライド番号プレースホルダー 12">
            <a:extLst>
              <a:ext uri="{FF2B5EF4-FFF2-40B4-BE49-F238E27FC236}">
                <a16:creationId xmlns:a16="http://schemas.microsoft.com/office/drawing/2014/main" id="{AD20F10C-356C-D088-EA62-2064DB3A05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46BD71-7BA8-429B-80B6-D1D1038A389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533175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テスト詳細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46BD71-7BA8-429B-80B6-D1D1038A389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030386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492873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77150" y="6492875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D46BD71-7BA8-429B-80B6-D1D1038A389E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15" name="Rectangle 3">
            <a:extLst>
              <a:ext uri="{FF2B5EF4-FFF2-40B4-BE49-F238E27FC236}">
                <a16:creationId xmlns:a16="http://schemas.microsoft.com/office/drawing/2014/main" id="{6E05D806-84EB-D875-4BE2-797B7FBEACF3}"/>
              </a:ext>
            </a:extLst>
          </p:cNvPr>
          <p:cNvSpPr/>
          <p:nvPr userDrawn="1"/>
        </p:nvSpPr>
        <p:spPr>
          <a:xfrm>
            <a:off x="92636" y="328296"/>
            <a:ext cx="9720729" cy="10800"/>
          </a:xfrm>
          <a:prstGeom prst="rect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6" name="TextBox 6">
            <a:extLst>
              <a:ext uri="{FF2B5EF4-FFF2-40B4-BE49-F238E27FC236}">
                <a16:creationId xmlns:a16="http://schemas.microsoft.com/office/drawing/2014/main" id="{5BEEF529-56CE-CE09-2438-4D4ACB9E25E8}"/>
              </a:ext>
            </a:extLst>
          </p:cNvPr>
          <p:cNvSpPr txBox="1"/>
          <p:nvPr userDrawn="1"/>
        </p:nvSpPr>
        <p:spPr>
          <a:xfrm>
            <a:off x="71719" y="64692"/>
            <a:ext cx="2826870" cy="2539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50" b="0" i="0" u="none" dirty="0">
                <a:solidFill>
                  <a:srgbClr val="1F2937"/>
                </a:solidFill>
                <a:latin typeface="Noto Sans JP"/>
              </a:rPr>
              <a:t>京都府立京都高等技術専門校</a:t>
            </a:r>
          </a:p>
        </p:txBody>
      </p:sp>
    </p:spTree>
    <p:extLst>
      <p:ext uri="{BB962C8B-B14F-4D97-AF65-F5344CB8AC3E}">
        <p14:creationId xmlns:p14="http://schemas.microsoft.com/office/powerpoint/2010/main" val="26616417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7" r:id="rId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E81FBC5-1265-6948-2718-2DDE200744D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kumimoji="1" lang="ja-JP" altLang="en-US" dirty="0"/>
              <a:t>テスト報告書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B78428F8-8DC1-0E59-9C8E-5E2ABAD00F8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kumimoji="1" lang="ja-JP" altLang="en-US" dirty="0"/>
              <a:t>テスト項目</a:t>
            </a:r>
            <a:endParaRPr lang="en-US" altLang="ja-JP" dirty="0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11B25CE2-976B-5EA0-4012-F7722A2485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ja-JP" altLang="en-US" dirty="0"/>
              <a:t>名前　○○</a:t>
            </a:r>
            <a:r>
              <a:rPr kumimoji="1" lang="en-US" altLang="ja-JP" dirty="0"/>
              <a:t>/</a:t>
            </a:r>
            <a:r>
              <a:rPr kumimoji="1" lang="ja-JP" altLang="en-US" dirty="0"/>
              <a:t>○○</a:t>
            </a: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EA219D3F-1F35-F0EF-49C0-5510F474D0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46BD71-7BA8-429B-80B6-D1D1038A389E}" type="slidenum">
              <a:rPr kumimoji="1" lang="ja-JP" altLang="en-US" smtClean="0"/>
              <a:t>1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295929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番号プレースホルダー 1">
            <a:extLst>
              <a:ext uri="{FF2B5EF4-FFF2-40B4-BE49-F238E27FC236}">
                <a16:creationId xmlns:a16="http://schemas.microsoft.com/office/drawing/2014/main" id="{572157F5-24AC-63F8-7D81-E0EFA144A1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46BD71-7BA8-429B-80B6-D1D1038A389E}" type="slidenum">
              <a:rPr kumimoji="1" lang="ja-JP" altLang="en-US" smtClean="0"/>
              <a:t>2</a:t>
            </a:fld>
            <a:endParaRPr kumimoji="1" lang="ja-JP" altLang="en-US"/>
          </a:p>
        </p:txBody>
      </p:sp>
      <p:sp>
        <p:nvSpPr>
          <p:cNvPr id="3" name="Rounded Rectangle 1">
            <a:extLst>
              <a:ext uri="{FF2B5EF4-FFF2-40B4-BE49-F238E27FC236}">
                <a16:creationId xmlns:a16="http://schemas.microsoft.com/office/drawing/2014/main" id="{4FCB0A11-8AA8-D873-6C28-7AC8A9B3191D}"/>
              </a:ext>
            </a:extLst>
          </p:cNvPr>
          <p:cNvSpPr/>
          <p:nvPr/>
        </p:nvSpPr>
        <p:spPr>
          <a:xfrm>
            <a:off x="149412" y="890337"/>
            <a:ext cx="9572104" cy="5565812"/>
          </a:xfrm>
          <a:prstGeom prst="roundRect">
            <a:avLst>
              <a:gd name="adj" fmla="val 4123"/>
            </a:avLst>
          </a:prstGeom>
          <a:solidFill>
            <a:srgbClr val="F1F5F9"/>
          </a:solidFill>
          <a:ln w="190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8">
            <a:extLst>
              <a:ext uri="{FF2B5EF4-FFF2-40B4-BE49-F238E27FC236}">
                <a16:creationId xmlns:a16="http://schemas.microsoft.com/office/drawing/2014/main" id="{570FFF4F-12B0-1D63-2887-A9E572FB7FCF}"/>
              </a:ext>
            </a:extLst>
          </p:cNvPr>
          <p:cNvSpPr txBox="1"/>
          <p:nvPr/>
        </p:nvSpPr>
        <p:spPr>
          <a:xfrm>
            <a:off x="1375974" y="3360370"/>
            <a:ext cx="7118981" cy="2077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ja-JP" altLang="en-US" sz="1350" b="0" i="0" u="none" dirty="0">
                <a:solidFill>
                  <a:srgbClr val="0F172A"/>
                </a:solidFill>
                <a:latin typeface="Noto Sans JP"/>
              </a:rPr>
              <a:t>エクセルとかの表を張り付け</a:t>
            </a:r>
            <a:endParaRPr sz="1350" b="0" i="0" u="none" dirty="0">
              <a:solidFill>
                <a:srgbClr val="0F172A"/>
              </a:solidFill>
              <a:latin typeface="Noto Sans JP"/>
            </a:endParaRPr>
          </a:p>
        </p:txBody>
      </p:sp>
      <p:sp>
        <p:nvSpPr>
          <p:cNvPr id="5" name="TextBox 6">
            <a:extLst>
              <a:ext uri="{FF2B5EF4-FFF2-40B4-BE49-F238E27FC236}">
                <a16:creationId xmlns:a16="http://schemas.microsoft.com/office/drawing/2014/main" id="{7B73B191-E1E8-5309-0D89-DCD9250A073E}"/>
              </a:ext>
            </a:extLst>
          </p:cNvPr>
          <p:cNvSpPr txBox="1"/>
          <p:nvPr/>
        </p:nvSpPr>
        <p:spPr>
          <a:xfrm>
            <a:off x="101601" y="401851"/>
            <a:ext cx="7386918" cy="4154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ja-JP" altLang="en-US" sz="2700" b="1" i="0" u="none" dirty="0">
                <a:solidFill>
                  <a:srgbClr val="1E293B"/>
                </a:solidFill>
                <a:latin typeface="Noto Sans JP"/>
              </a:rPr>
              <a:t>○○</a:t>
            </a:r>
            <a:r>
              <a:rPr sz="2700" b="1" i="0" u="none" dirty="0" err="1">
                <a:solidFill>
                  <a:srgbClr val="1E293B"/>
                </a:solidFill>
                <a:latin typeface="Noto Sans JP"/>
              </a:rPr>
              <a:t>テスト</a:t>
            </a:r>
            <a:r>
              <a:rPr sz="2700" b="1" i="0" u="none" dirty="0">
                <a:solidFill>
                  <a:srgbClr val="1E293B"/>
                </a:solidFill>
                <a:latin typeface="Noto Sans JP"/>
              </a:rPr>
              <a:t> </a:t>
            </a:r>
            <a:r>
              <a:rPr lang="ja-JP" altLang="en-US" sz="2700" b="1" dirty="0">
                <a:solidFill>
                  <a:srgbClr val="1E293B"/>
                </a:solidFill>
                <a:latin typeface="Noto Sans JP"/>
              </a:rPr>
              <a:t>項目一覧</a:t>
            </a:r>
            <a:endParaRPr sz="2700" b="1" i="0" u="none" dirty="0">
              <a:solidFill>
                <a:srgbClr val="1E293B"/>
              </a:solidFill>
              <a:latin typeface="Noto Sans JP"/>
            </a:endParaRPr>
          </a:p>
        </p:txBody>
      </p:sp>
    </p:spTree>
    <p:extLst>
      <p:ext uri="{BB962C8B-B14F-4D97-AF65-F5344CB8AC3E}">
        <p14:creationId xmlns:p14="http://schemas.microsoft.com/office/powerpoint/2010/main" val="28984000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Rounded Rectangle 1">
            <a:extLst>
              <a:ext uri="{FF2B5EF4-FFF2-40B4-BE49-F238E27FC236}">
                <a16:creationId xmlns:a16="http://schemas.microsoft.com/office/drawing/2014/main" id="{A2CA06EE-77C2-368E-3865-345CBC631DC3}"/>
              </a:ext>
            </a:extLst>
          </p:cNvPr>
          <p:cNvSpPr/>
          <p:nvPr/>
        </p:nvSpPr>
        <p:spPr>
          <a:xfrm>
            <a:off x="149412" y="1164066"/>
            <a:ext cx="6376894" cy="3766522"/>
          </a:xfrm>
          <a:prstGeom prst="roundRect">
            <a:avLst>
              <a:gd name="adj" fmla="val 4123"/>
            </a:avLst>
          </a:prstGeom>
          <a:solidFill>
            <a:srgbClr val="F1F5F9"/>
          </a:solidFill>
          <a:ln w="190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ounded Rectangle 3">
            <a:extLst>
              <a:ext uri="{FF2B5EF4-FFF2-40B4-BE49-F238E27FC236}">
                <a16:creationId xmlns:a16="http://schemas.microsoft.com/office/drawing/2014/main" id="{5E4FBCC6-C193-A38E-3141-99653493B7EE}"/>
              </a:ext>
            </a:extLst>
          </p:cNvPr>
          <p:cNvSpPr/>
          <p:nvPr/>
        </p:nvSpPr>
        <p:spPr>
          <a:xfrm>
            <a:off x="5020235" y="5008532"/>
            <a:ext cx="4736353" cy="1447617"/>
          </a:xfrm>
          <a:prstGeom prst="roundRect">
            <a:avLst>
              <a:gd name="adj" fmla="val 3902"/>
            </a:avLst>
          </a:prstGeom>
          <a:solidFill>
            <a:srgbClr val="ECFDF5"/>
          </a:solidFill>
          <a:ln w="1905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69" name="Rounded Rectangle 3">
            <a:extLst>
              <a:ext uri="{FF2B5EF4-FFF2-40B4-BE49-F238E27FC236}">
                <a16:creationId xmlns:a16="http://schemas.microsoft.com/office/drawing/2014/main" id="{EFAAF73D-F0F2-2BE3-377D-A97C97C1DF9C}"/>
              </a:ext>
            </a:extLst>
          </p:cNvPr>
          <p:cNvSpPr/>
          <p:nvPr/>
        </p:nvSpPr>
        <p:spPr>
          <a:xfrm>
            <a:off x="149412" y="5008532"/>
            <a:ext cx="4736353" cy="1447617"/>
          </a:xfrm>
          <a:prstGeom prst="roundRect">
            <a:avLst>
              <a:gd name="adj" fmla="val 3902"/>
            </a:avLst>
          </a:prstGeom>
          <a:solidFill>
            <a:srgbClr val="FCFDED"/>
          </a:solidFill>
          <a:ln w="19050">
            <a:solidFill>
              <a:srgbClr val="A6BA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80D1580B-2F99-2D1F-EBF3-48B6C8A1E1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46BD71-7BA8-429B-80B6-D1D1038A389E}" type="slidenum">
              <a:rPr kumimoji="1" lang="ja-JP" altLang="en-US" smtClean="0"/>
              <a:t>3</a:t>
            </a:fld>
            <a:endParaRPr kumimoji="1" lang="ja-JP" altLang="en-US"/>
          </a:p>
        </p:txBody>
      </p:sp>
      <p:sp>
        <p:nvSpPr>
          <p:cNvPr id="42" name="TextBox 8">
            <a:extLst>
              <a:ext uri="{FF2B5EF4-FFF2-40B4-BE49-F238E27FC236}">
                <a16:creationId xmlns:a16="http://schemas.microsoft.com/office/drawing/2014/main" id="{37ED0ADE-5824-79EC-FBDF-E77C56320F27}"/>
              </a:ext>
            </a:extLst>
          </p:cNvPr>
          <p:cNvSpPr txBox="1"/>
          <p:nvPr/>
        </p:nvSpPr>
        <p:spPr>
          <a:xfrm>
            <a:off x="966542" y="2835598"/>
            <a:ext cx="4742634" cy="2188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ja-JP" altLang="en-US" sz="1350" b="0" i="0" u="none" dirty="0">
                <a:solidFill>
                  <a:srgbClr val="0F172A"/>
                </a:solidFill>
                <a:latin typeface="Noto Sans JP"/>
              </a:rPr>
              <a:t>画像貼り付け</a:t>
            </a:r>
            <a:endParaRPr sz="1350" b="0" i="0" u="none" dirty="0">
              <a:solidFill>
                <a:srgbClr val="0F172A"/>
              </a:solidFill>
              <a:latin typeface="Noto Sans JP"/>
            </a:endParaRPr>
          </a:p>
        </p:txBody>
      </p:sp>
      <p:sp>
        <p:nvSpPr>
          <p:cNvPr id="56" name="TextBox 15">
            <a:extLst>
              <a:ext uri="{FF2B5EF4-FFF2-40B4-BE49-F238E27FC236}">
                <a16:creationId xmlns:a16="http://schemas.microsoft.com/office/drawing/2014/main" id="{F32C238D-9CFE-9AA0-B791-F8D2CDECFF5D}"/>
              </a:ext>
            </a:extLst>
          </p:cNvPr>
          <p:cNvSpPr txBox="1"/>
          <p:nvPr/>
        </p:nvSpPr>
        <p:spPr>
          <a:xfrm>
            <a:off x="5137386" y="5526835"/>
            <a:ext cx="3935830" cy="2077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ja-JP" altLang="en-US" sz="1350" b="0" i="0" u="none" dirty="0">
                <a:solidFill>
                  <a:srgbClr val="334155"/>
                </a:solidFill>
                <a:latin typeface="Noto Sans JP"/>
              </a:rPr>
              <a:t>結果報告</a:t>
            </a:r>
            <a:endParaRPr sz="1350" b="0" i="0" u="none" dirty="0">
              <a:solidFill>
                <a:srgbClr val="334155"/>
              </a:solidFill>
              <a:latin typeface="Noto Sans JP"/>
            </a:endParaRPr>
          </a:p>
        </p:txBody>
      </p:sp>
      <p:sp>
        <p:nvSpPr>
          <p:cNvPr id="72" name="TextBox 15">
            <a:extLst>
              <a:ext uri="{FF2B5EF4-FFF2-40B4-BE49-F238E27FC236}">
                <a16:creationId xmlns:a16="http://schemas.microsoft.com/office/drawing/2014/main" id="{C2B07CFD-5F2B-25CC-C058-6217587AC96E}"/>
              </a:ext>
            </a:extLst>
          </p:cNvPr>
          <p:cNvSpPr txBox="1"/>
          <p:nvPr/>
        </p:nvSpPr>
        <p:spPr>
          <a:xfrm>
            <a:off x="299436" y="5524743"/>
            <a:ext cx="3935830" cy="2077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ja-JP" altLang="en-US" sz="1350" b="0" i="0" u="none" dirty="0">
                <a:solidFill>
                  <a:srgbClr val="334155"/>
                </a:solidFill>
                <a:latin typeface="Noto Sans JP"/>
              </a:rPr>
              <a:t>結果報告</a:t>
            </a:r>
            <a:endParaRPr sz="1350" b="0" i="0" u="none" dirty="0">
              <a:solidFill>
                <a:srgbClr val="334155"/>
              </a:solidFill>
              <a:latin typeface="Noto Sans JP"/>
            </a:endParaRPr>
          </a:p>
        </p:txBody>
      </p:sp>
      <p:sp>
        <p:nvSpPr>
          <p:cNvPr id="64" name="TextBox 13">
            <a:extLst>
              <a:ext uri="{FF2B5EF4-FFF2-40B4-BE49-F238E27FC236}">
                <a16:creationId xmlns:a16="http://schemas.microsoft.com/office/drawing/2014/main" id="{521DB703-52B2-EC69-B90C-C917B9185E57}"/>
              </a:ext>
            </a:extLst>
          </p:cNvPr>
          <p:cNvSpPr txBox="1"/>
          <p:nvPr/>
        </p:nvSpPr>
        <p:spPr>
          <a:xfrm>
            <a:off x="6655947" y="2578079"/>
            <a:ext cx="3100642" cy="230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ja-JP" altLang="en-US" sz="1500" b="0" i="0" u="none" dirty="0">
                <a:solidFill>
                  <a:srgbClr val="475569"/>
                </a:solidFill>
                <a:latin typeface="Noto Sans JP"/>
              </a:rPr>
              <a:t>仕様報告</a:t>
            </a:r>
            <a:endParaRPr sz="1500" b="0" i="0" u="none" dirty="0">
              <a:solidFill>
                <a:srgbClr val="475569"/>
              </a:solidFill>
              <a:latin typeface="Noto Sans JP"/>
            </a:endParaRPr>
          </a:p>
        </p:txBody>
      </p:sp>
      <p:sp>
        <p:nvSpPr>
          <p:cNvPr id="65" name="TextBox 13">
            <a:extLst>
              <a:ext uri="{FF2B5EF4-FFF2-40B4-BE49-F238E27FC236}">
                <a16:creationId xmlns:a16="http://schemas.microsoft.com/office/drawing/2014/main" id="{CBB0575A-640B-FEBD-D6FB-29539509F8D9}"/>
              </a:ext>
            </a:extLst>
          </p:cNvPr>
          <p:cNvSpPr txBox="1"/>
          <p:nvPr/>
        </p:nvSpPr>
        <p:spPr>
          <a:xfrm>
            <a:off x="6655946" y="1692221"/>
            <a:ext cx="3100642" cy="230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ja-JP" altLang="en-US" sz="1500" b="0" i="0" u="none" dirty="0">
                <a:solidFill>
                  <a:srgbClr val="475569"/>
                </a:solidFill>
                <a:latin typeface="Noto Sans JP"/>
              </a:rPr>
              <a:t>内容報告</a:t>
            </a:r>
            <a:endParaRPr sz="1500" b="0" i="0" u="none" dirty="0">
              <a:solidFill>
                <a:srgbClr val="475569"/>
              </a:solidFill>
              <a:latin typeface="Noto Sans JP"/>
            </a:endParaRPr>
          </a:p>
        </p:txBody>
      </p:sp>
      <p:sp>
        <p:nvSpPr>
          <p:cNvPr id="44" name="TextBox 6">
            <a:extLst>
              <a:ext uri="{FF2B5EF4-FFF2-40B4-BE49-F238E27FC236}">
                <a16:creationId xmlns:a16="http://schemas.microsoft.com/office/drawing/2014/main" id="{6E398CEC-C4BD-3D5E-665E-0D929EA5D053}"/>
              </a:ext>
            </a:extLst>
          </p:cNvPr>
          <p:cNvSpPr txBox="1"/>
          <p:nvPr/>
        </p:nvSpPr>
        <p:spPr>
          <a:xfrm>
            <a:off x="101601" y="401851"/>
            <a:ext cx="7386918" cy="4154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ja-JP" altLang="en-US" sz="2700" b="1" i="0" u="none" dirty="0">
                <a:solidFill>
                  <a:srgbClr val="1E293B"/>
                </a:solidFill>
                <a:latin typeface="Noto Sans JP"/>
              </a:rPr>
              <a:t>○○</a:t>
            </a:r>
            <a:r>
              <a:rPr sz="2700" b="1" i="0" u="none" dirty="0">
                <a:solidFill>
                  <a:srgbClr val="1E293B"/>
                </a:solidFill>
                <a:latin typeface="Noto Sans JP"/>
              </a:rPr>
              <a:t>テスト 詳細報告</a:t>
            </a:r>
          </a:p>
        </p:txBody>
      </p:sp>
      <p:sp>
        <p:nvSpPr>
          <p:cNvPr id="57" name="TextBox 16">
            <a:extLst>
              <a:ext uri="{FF2B5EF4-FFF2-40B4-BE49-F238E27FC236}">
                <a16:creationId xmlns:a16="http://schemas.microsoft.com/office/drawing/2014/main" id="{3DE2E7BA-E445-52D3-AF12-C42169D33DB5}"/>
              </a:ext>
            </a:extLst>
          </p:cNvPr>
          <p:cNvSpPr txBox="1"/>
          <p:nvPr/>
        </p:nvSpPr>
        <p:spPr>
          <a:xfrm>
            <a:off x="5137387" y="5175059"/>
            <a:ext cx="3935829" cy="2077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 dirty="0" err="1">
                <a:solidFill>
                  <a:srgbClr val="059669"/>
                </a:solidFill>
                <a:latin typeface="Noto Sans JP"/>
              </a:rPr>
              <a:t>見解・テスト結果</a:t>
            </a:r>
            <a:endParaRPr sz="1350" b="1" i="0" u="none" dirty="0">
              <a:solidFill>
                <a:srgbClr val="059669"/>
              </a:solidFill>
              <a:latin typeface="Noto Sans JP"/>
            </a:endParaRPr>
          </a:p>
        </p:txBody>
      </p:sp>
      <p:sp>
        <p:nvSpPr>
          <p:cNvPr id="60" name="TextBox 7">
            <a:extLst>
              <a:ext uri="{FF2B5EF4-FFF2-40B4-BE49-F238E27FC236}">
                <a16:creationId xmlns:a16="http://schemas.microsoft.com/office/drawing/2014/main" id="{AC557A58-EF4F-A1C4-B3D5-0A6A924F6982}"/>
              </a:ext>
            </a:extLst>
          </p:cNvPr>
          <p:cNvSpPr txBox="1"/>
          <p:nvPr/>
        </p:nvSpPr>
        <p:spPr>
          <a:xfrm>
            <a:off x="215154" y="933234"/>
            <a:ext cx="4322433" cy="230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 dirty="0">
                <a:solidFill>
                  <a:srgbClr val="64748B"/>
                </a:solidFill>
                <a:latin typeface="Noto Sans JP"/>
              </a:rPr>
              <a:t>対象画面・遷移フロー</a:t>
            </a:r>
            <a:r>
              <a:rPr lang="ja-JP" altLang="en-US" sz="1500" b="1" i="0" u="none" dirty="0">
                <a:solidFill>
                  <a:srgbClr val="64748B"/>
                </a:solidFill>
                <a:latin typeface="Noto Sans JP"/>
              </a:rPr>
              <a:t>　とか</a:t>
            </a:r>
            <a:endParaRPr sz="1500" b="1" i="0" u="none" dirty="0">
              <a:solidFill>
                <a:srgbClr val="64748B"/>
              </a:solidFill>
              <a:latin typeface="Noto Sans JP"/>
            </a:endParaRPr>
          </a:p>
        </p:txBody>
      </p:sp>
      <p:sp>
        <p:nvSpPr>
          <p:cNvPr id="61" name="TextBox 10">
            <a:extLst>
              <a:ext uri="{FF2B5EF4-FFF2-40B4-BE49-F238E27FC236}">
                <a16:creationId xmlns:a16="http://schemas.microsoft.com/office/drawing/2014/main" id="{5333DA31-E334-670D-FC1B-FD6E89E249C3}"/>
              </a:ext>
            </a:extLst>
          </p:cNvPr>
          <p:cNvSpPr txBox="1"/>
          <p:nvPr/>
        </p:nvSpPr>
        <p:spPr>
          <a:xfrm>
            <a:off x="6655946" y="1416029"/>
            <a:ext cx="3100642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 dirty="0" err="1">
                <a:solidFill>
                  <a:srgbClr val="0F172A"/>
                </a:solidFill>
                <a:latin typeface="Noto Sans JP"/>
              </a:rPr>
              <a:t>テスト内容（確認項目</a:t>
            </a:r>
            <a:r>
              <a:rPr sz="1200" b="1" i="0" u="none" dirty="0">
                <a:solidFill>
                  <a:srgbClr val="0F172A"/>
                </a:solidFill>
                <a:latin typeface="Noto Sans JP"/>
              </a:rPr>
              <a:t>）</a:t>
            </a:r>
          </a:p>
        </p:txBody>
      </p:sp>
      <p:sp>
        <p:nvSpPr>
          <p:cNvPr id="63" name="TextBox 12">
            <a:extLst>
              <a:ext uri="{FF2B5EF4-FFF2-40B4-BE49-F238E27FC236}">
                <a16:creationId xmlns:a16="http://schemas.microsoft.com/office/drawing/2014/main" id="{496AB46E-93D4-9A31-595F-66AE985D32FC}"/>
              </a:ext>
            </a:extLst>
          </p:cNvPr>
          <p:cNvSpPr txBox="1"/>
          <p:nvPr/>
        </p:nvSpPr>
        <p:spPr>
          <a:xfrm>
            <a:off x="6655946" y="2301854"/>
            <a:ext cx="3100642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Noto Sans JP"/>
              </a:rPr>
              <a:t>期待される動作（仕様）</a:t>
            </a:r>
          </a:p>
        </p:txBody>
      </p:sp>
      <p:sp>
        <p:nvSpPr>
          <p:cNvPr id="71" name="TextBox 15">
            <a:extLst>
              <a:ext uri="{FF2B5EF4-FFF2-40B4-BE49-F238E27FC236}">
                <a16:creationId xmlns:a16="http://schemas.microsoft.com/office/drawing/2014/main" id="{E18B1E15-094B-9C13-AAAD-54BDB31F3C56}"/>
              </a:ext>
            </a:extLst>
          </p:cNvPr>
          <p:cNvSpPr txBox="1"/>
          <p:nvPr/>
        </p:nvSpPr>
        <p:spPr>
          <a:xfrm>
            <a:off x="299436" y="5175059"/>
            <a:ext cx="3935830" cy="2077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ja-JP" altLang="en-US" sz="1350" b="1" i="0" u="none" dirty="0">
                <a:solidFill>
                  <a:srgbClr val="817E07"/>
                </a:solidFill>
                <a:latin typeface="Noto Sans JP"/>
              </a:rPr>
              <a:t>注意点や一言</a:t>
            </a:r>
            <a:endParaRPr sz="1350" b="1" i="0" u="none" dirty="0">
              <a:solidFill>
                <a:srgbClr val="817E07"/>
              </a:solidFill>
              <a:latin typeface="Noto Sans JP"/>
            </a:endParaRPr>
          </a:p>
        </p:txBody>
      </p:sp>
      <p:sp>
        <p:nvSpPr>
          <p:cNvPr id="55" name="Rounded Rectangle 4">
            <a:extLst>
              <a:ext uri="{FF2B5EF4-FFF2-40B4-BE49-F238E27FC236}">
                <a16:creationId xmlns:a16="http://schemas.microsoft.com/office/drawing/2014/main" id="{D56F55F0-46C3-EFDD-F24E-1237DC100F17}"/>
              </a:ext>
            </a:extLst>
          </p:cNvPr>
          <p:cNvSpPr/>
          <p:nvPr/>
        </p:nvSpPr>
        <p:spPr>
          <a:xfrm>
            <a:off x="8529654" y="5068483"/>
            <a:ext cx="1157138" cy="276225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17">
            <a:extLst>
              <a:ext uri="{FF2B5EF4-FFF2-40B4-BE49-F238E27FC236}">
                <a16:creationId xmlns:a16="http://schemas.microsoft.com/office/drawing/2014/main" id="{EB9D61B6-E0D5-1D99-CA26-0C32B411E79F}"/>
              </a:ext>
            </a:extLst>
          </p:cNvPr>
          <p:cNvSpPr txBox="1"/>
          <p:nvPr/>
        </p:nvSpPr>
        <p:spPr>
          <a:xfrm>
            <a:off x="8682054" y="5106583"/>
            <a:ext cx="947588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F8FAFC"/>
                </a:solidFill>
                <a:latin typeface="Noto Sans JP"/>
              </a:rPr>
              <a:t>PASS (合格)</a:t>
            </a:r>
          </a:p>
        </p:txBody>
      </p:sp>
    </p:spTree>
    <p:extLst>
      <p:ext uri="{BB962C8B-B14F-4D97-AF65-F5344CB8AC3E}">
        <p14:creationId xmlns:p14="http://schemas.microsoft.com/office/powerpoint/2010/main" val="27268131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番号プレースホルダー 1">
            <a:extLst>
              <a:ext uri="{FF2B5EF4-FFF2-40B4-BE49-F238E27FC236}">
                <a16:creationId xmlns:a16="http://schemas.microsoft.com/office/drawing/2014/main" id="{86975E9B-440A-DBC7-AE01-47D495B417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46BD71-7BA8-429B-80B6-D1D1038A389E}" type="slidenum">
              <a:rPr kumimoji="1" lang="ja-JP" altLang="en-US" smtClean="0"/>
              <a:t>4</a:t>
            </a:fld>
            <a:endParaRPr kumimoji="1" lang="ja-JP" altLang="en-US"/>
          </a:p>
        </p:txBody>
      </p:sp>
      <p:graphicFrame>
        <p:nvGraphicFramePr>
          <p:cNvPr id="6" name="Table 4">
            <a:extLst>
              <a:ext uri="{FF2B5EF4-FFF2-40B4-BE49-F238E27FC236}">
                <a16:creationId xmlns:a16="http://schemas.microsoft.com/office/drawing/2014/main" id="{44E4836D-D7FB-27CA-D7C6-C4068FA2563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58984880"/>
              </p:ext>
            </p:extLst>
          </p:nvPr>
        </p:nvGraphicFramePr>
        <p:xfrm>
          <a:off x="228599" y="1282615"/>
          <a:ext cx="9448802" cy="2981325"/>
        </p:xfrm>
        <a:graphic>
          <a:graphicData uri="http://schemas.openxmlformats.org/drawingml/2006/table">
            <a:tbl>
              <a:tblPr/>
              <a:tblGrid>
                <a:gridCol w="14172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172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518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6232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45331"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475569"/>
                          </a:solidFill>
                          <a:latin typeface="Noto Sans JP"/>
                        </a:rPr>
                        <a:t>ID</a:t>
                      </a: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 u="none" dirty="0" err="1">
                          <a:solidFill>
                            <a:srgbClr val="475569"/>
                          </a:solidFill>
                          <a:latin typeface="Noto Sans JP"/>
                        </a:rPr>
                        <a:t>重要度</a:t>
                      </a:r>
                      <a:endParaRPr sz="1200" b="1" i="0" u="none" dirty="0">
                        <a:solidFill>
                          <a:srgbClr val="475569"/>
                        </a:solidFill>
                        <a:latin typeface="Noto Sans JP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 u="none" dirty="0" err="1">
                          <a:solidFill>
                            <a:srgbClr val="475569"/>
                          </a:solidFill>
                          <a:latin typeface="Noto Sans JP"/>
                        </a:rPr>
                        <a:t>事象・課題内容</a:t>
                      </a:r>
                      <a:endParaRPr sz="1200" b="1" i="0" u="none" dirty="0">
                        <a:solidFill>
                          <a:srgbClr val="475569"/>
                        </a:solidFill>
                        <a:latin typeface="Noto Sans JP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475569"/>
                          </a:solidFill>
                          <a:latin typeface="Noto Sans JP"/>
                        </a:rPr>
                        <a:t>ステータス / 方針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45331">
                <a:tc>
                  <a:txBody>
                    <a:bodyPr/>
                    <a:lstStyle/>
                    <a:p>
                      <a:pPr algn="l"/>
                      <a:r>
                        <a:rPr sz="1200" b="0" i="0" u="none" dirty="0">
                          <a:solidFill>
                            <a:srgbClr val="1E293B"/>
                          </a:solidFill>
                          <a:latin typeface="Noto Sans JP"/>
                        </a:rPr>
                        <a:t>BUG-001</a:t>
                      </a: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ja-JP" alt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854D0E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中 </a:t>
                      </a:r>
                      <a:r>
                        <a:rPr kumimoji="0" lang="en-US" altLang="ja-JP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854D0E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(Medium)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 dirty="0" err="1">
                          <a:solidFill>
                            <a:srgbClr val="1E293B"/>
                          </a:solidFill>
                          <a:latin typeface="Noto Sans JP"/>
                        </a:rPr>
                        <a:t>一部の古いAndroid端末でレイアウト崩れが発生</a:t>
                      </a:r>
                      <a:endParaRPr sz="1200" b="0" i="0" u="none" dirty="0">
                        <a:solidFill>
                          <a:srgbClr val="1E293B"/>
                        </a:solidFill>
                        <a:latin typeface="Noto Sans JP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 dirty="0" err="1">
                          <a:solidFill>
                            <a:srgbClr val="475569"/>
                          </a:solidFill>
                          <a:latin typeface="Noto Sans JP"/>
                        </a:rPr>
                        <a:t>次期アップデートで修正</a:t>
                      </a:r>
                      <a:endParaRPr sz="1200" b="0" i="0" u="none" dirty="0">
                        <a:solidFill>
                          <a:srgbClr val="475569"/>
                        </a:solidFill>
                        <a:latin typeface="Noto Sans JP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45331"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1E293B"/>
                          </a:solidFill>
                          <a:latin typeface="Noto Sans JP"/>
                        </a:rPr>
                        <a:t>BUG-002</a:t>
                      </a: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ja-JP" alt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854D0E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中 </a:t>
                      </a:r>
                      <a:r>
                        <a:rPr kumimoji="0" lang="en-US" altLang="ja-JP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854D0E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(Medium)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 dirty="0">
                          <a:solidFill>
                            <a:srgbClr val="1E293B"/>
                          </a:solidFill>
                          <a:latin typeface="Noto Sans JP"/>
                        </a:rPr>
                        <a:t>特定の検索条件で処理に3秒以上かかる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475569"/>
                          </a:solidFill>
                          <a:latin typeface="Noto Sans JP"/>
                        </a:rPr>
                        <a:t>許容範囲内として受入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45332"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1E293B"/>
                          </a:solidFill>
                          <a:latin typeface="Noto Sans JP"/>
                        </a:rPr>
                        <a:t>BUG-003</a:t>
                      </a: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ja-JP" alt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369A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低 </a:t>
                      </a:r>
                      <a:r>
                        <a:rPr kumimoji="0" lang="en-US" altLang="ja-JP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369A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(Low)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 dirty="0" err="1">
                          <a:solidFill>
                            <a:srgbClr val="1E293B"/>
                          </a:solidFill>
                          <a:latin typeface="Noto Sans JP"/>
                        </a:rPr>
                        <a:t>利用規約ページの誤字</a:t>
                      </a:r>
                      <a:endParaRPr sz="1200" b="0" i="0" u="none" dirty="0">
                        <a:solidFill>
                          <a:srgbClr val="1E293B"/>
                        </a:solidFill>
                        <a:latin typeface="Noto Sans JP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 dirty="0" err="1">
                          <a:solidFill>
                            <a:srgbClr val="475569"/>
                          </a:solidFill>
                          <a:latin typeface="Noto Sans JP"/>
                        </a:rPr>
                        <a:t>修正済み（次回デプロイ反映</a:t>
                      </a:r>
                      <a:r>
                        <a:rPr sz="1200" b="0" i="0" u="none" dirty="0">
                          <a:solidFill>
                            <a:srgbClr val="475569"/>
                          </a:solidFill>
                          <a:latin typeface="Noto Sans JP"/>
                        </a:rPr>
                        <a:t>）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1" name="TextBox 6">
            <a:extLst>
              <a:ext uri="{FF2B5EF4-FFF2-40B4-BE49-F238E27FC236}">
                <a16:creationId xmlns:a16="http://schemas.microsoft.com/office/drawing/2014/main" id="{89198434-2347-6023-28FE-990AC8E4CAF1}"/>
              </a:ext>
            </a:extLst>
          </p:cNvPr>
          <p:cNvSpPr txBox="1"/>
          <p:nvPr/>
        </p:nvSpPr>
        <p:spPr>
          <a:xfrm>
            <a:off x="101601" y="401851"/>
            <a:ext cx="7386918" cy="4154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ja-JP" altLang="en-US" sz="2700" b="1" i="0" u="none" dirty="0">
                <a:solidFill>
                  <a:srgbClr val="1E293B"/>
                </a:solidFill>
                <a:latin typeface="Noto Sans JP"/>
              </a:rPr>
              <a:t>残存課題・インシデント一覧</a:t>
            </a:r>
          </a:p>
        </p:txBody>
      </p:sp>
      <p:sp>
        <p:nvSpPr>
          <p:cNvPr id="20" name="Rounded Rectangle 3">
            <a:extLst>
              <a:ext uri="{FF2B5EF4-FFF2-40B4-BE49-F238E27FC236}">
                <a16:creationId xmlns:a16="http://schemas.microsoft.com/office/drawing/2014/main" id="{B2702C92-A2AF-72DE-00C6-7DA50911AE88}"/>
              </a:ext>
            </a:extLst>
          </p:cNvPr>
          <p:cNvSpPr/>
          <p:nvPr/>
        </p:nvSpPr>
        <p:spPr>
          <a:xfrm>
            <a:off x="228600" y="4535445"/>
            <a:ext cx="9448802" cy="1685925"/>
          </a:xfrm>
          <a:prstGeom prst="roundRect">
            <a:avLst>
              <a:gd name="adj" fmla="val 4519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7">
            <a:extLst>
              <a:ext uri="{FF2B5EF4-FFF2-40B4-BE49-F238E27FC236}">
                <a16:creationId xmlns:a16="http://schemas.microsoft.com/office/drawing/2014/main" id="{3B4D115F-7C07-79C8-F46C-4E4E5B4367FF}"/>
              </a:ext>
            </a:extLst>
          </p:cNvPr>
          <p:cNvSpPr txBox="1"/>
          <p:nvPr/>
        </p:nvSpPr>
        <p:spPr>
          <a:xfrm>
            <a:off x="552449" y="4859295"/>
            <a:ext cx="9203155" cy="230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475569"/>
                </a:solidFill>
                <a:latin typeface="Noto Sans JP"/>
              </a:rPr>
              <a:t>今後の対応方針</a:t>
            </a:r>
          </a:p>
        </p:txBody>
      </p:sp>
      <p:sp>
        <p:nvSpPr>
          <p:cNvPr id="22" name="TextBox 8">
            <a:extLst>
              <a:ext uri="{FF2B5EF4-FFF2-40B4-BE49-F238E27FC236}">
                <a16:creationId xmlns:a16="http://schemas.microsoft.com/office/drawing/2014/main" id="{4A373456-2E12-E1EE-780C-B7EDB6E764BB}"/>
              </a:ext>
            </a:extLst>
          </p:cNvPr>
          <p:cNvSpPr txBox="1"/>
          <p:nvPr/>
        </p:nvSpPr>
        <p:spPr>
          <a:xfrm>
            <a:off x="552449" y="5268870"/>
            <a:ext cx="9203155" cy="230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334155"/>
                </a:solidFill>
                <a:latin typeface="Noto Sans JP"/>
              </a:rPr>
              <a:t>・残存する軽微なバグは次期開発スプリントで対応</a:t>
            </a:r>
          </a:p>
        </p:txBody>
      </p:sp>
      <p:sp>
        <p:nvSpPr>
          <p:cNvPr id="23" name="TextBox 9">
            <a:extLst>
              <a:ext uri="{FF2B5EF4-FFF2-40B4-BE49-F238E27FC236}">
                <a16:creationId xmlns:a16="http://schemas.microsoft.com/office/drawing/2014/main" id="{93521E1F-D0DC-A3F2-ADC6-AA22F85DF8ED}"/>
              </a:ext>
            </a:extLst>
          </p:cNvPr>
          <p:cNvSpPr txBox="1"/>
          <p:nvPr/>
        </p:nvSpPr>
        <p:spPr>
          <a:xfrm>
            <a:off x="552449" y="5640345"/>
            <a:ext cx="9203155" cy="230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334155"/>
                </a:solidFill>
                <a:latin typeface="Noto Sans JP"/>
              </a:rPr>
              <a:t>・〇月〇日 本番環境へのデプロイ実施予定</a:t>
            </a:r>
          </a:p>
        </p:txBody>
      </p:sp>
    </p:spTree>
    <p:extLst>
      <p:ext uri="{BB962C8B-B14F-4D97-AF65-F5344CB8AC3E}">
        <p14:creationId xmlns:p14="http://schemas.microsoft.com/office/powerpoint/2010/main" val="23484993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 テーマ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Noto Sans JP祭">
      <a:majorFont>
        <a:latin typeface="Noto Sans JP"/>
        <a:ea typeface="Noto Sans JP"/>
        <a:cs typeface=""/>
      </a:majorFont>
      <a:minorFont>
        <a:latin typeface="Noto Sans JP"/>
        <a:ea typeface="Noto Sans JP"/>
        <a:cs typeface="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102</TotalTime>
  <Words>109</Words>
  <Application>Microsoft Office PowerPoint</Application>
  <PresentationFormat>A4 210 x 297 mm</PresentationFormat>
  <Paragraphs>41</Paragraphs>
  <Slides>4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4</vt:i4>
      </vt:variant>
    </vt:vector>
  </HeadingPairs>
  <TitlesOfParts>
    <vt:vector size="8" baseType="lpstr">
      <vt:lpstr>Noto Sans JP</vt:lpstr>
      <vt:lpstr>游ゴシック</vt:lpstr>
      <vt:lpstr>Arial</vt:lpstr>
      <vt:lpstr>Office テーマ</vt:lpstr>
      <vt:lpstr>テスト報告書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Imai</dc:creator>
  <cp:lastModifiedBy>Imai</cp:lastModifiedBy>
  <cp:revision>9</cp:revision>
  <dcterms:created xsi:type="dcterms:W3CDTF">2026-10-22T05:15:09Z</dcterms:created>
  <dcterms:modified xsi:type="dcterms:W3CDTF">2026-10-22T06:59:09Z</dcterms:modified>
</cp:coreProperties>
</file>